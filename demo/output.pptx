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6D2E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offe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3291840" cy="2468880"/>
          </a:xfrm>
          <a:prstGeom prst="round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457200"/>
            <a:ext cx="32918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 i="0" spc="400">
                <a:solidFill>
                  <a:srgbClr val="ECE2D0"/>
                </a:solidFill>
                <a:latin typeface="Calibri"/>
              </a:rPr>
              <a:t>BEAN ORIGIN  · 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840480"/>
            <a:ext cx="329184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4000" b="1" i="0">
                <a:solidFill>
                  <a:srgbClr val="FFFFFF"/>
                </a:solidFill>
                <a:latin typeface="Georgia"/>
              </a:rPr>
              <a:t>豆源自然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329184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40000"/>
              </a:lnSpc>
            </a:pPr>
            <a:r>
              <a:rPr sz="1300" b="0" i="0">
                <a:solidFill>
                  <a:srgbClr val="ECE2D0"/>
                </a:solidFill>
                <a:latin typeface="Calibri"/>
              </a:rPr>
              <a:t>源自单一产区的精品咖啡豆,经由完整可追溯的处理流程,呈现层次分明的风味。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548640"/>
            <a:ext cx="71323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200" b="1" i="0">
                <a:solidFill>
                  <a:srgbClr val="2B2B2B"/>
                </a:solidFill>
                <a:latin typeface="Georgia"/>
              </a:rPr>
              <a:t>从产地到杯中 · 三步处理流程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1051560"/>
            <a:ext cx="71323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 i="1">
                <a:solidFill>
                  <a:srgbClr val="A26769"/>
                </a:solidFill>
                <a:latin typeface="Calibri"/>
              </a:rPr>
              <a:t>Origin · Process · Roast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0" y="1920240"/>
            <a:ext cx="2103120" cy="1280160"/>
          </a:xfrm>
          <a:prstGeom prst="roundRect">
            <a:avLst/>
          </a:prstGeom>
          <a:solidFill>
            <a:srgbClr val="ECE2D0"/>
          </a:solidFill>
          <a:ln w="9525">
            <a:solidFill>
              <a:srgbClr val="6D2E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64592" bIns="164592"/>
          <a:lstStyle/>
          <a:p>
            <a:pPr algn="ctr"/>
            <a:r>
              <a:rPr sz="1400" b="1">
                <a:solidFill>
                  <a:srgbClr val="6D2E46"/>
                </a:solidFill>
                <a:latin typeface="Georgia"/>
              </a:rPr>
              <a:t>01 · 产地</a:t>
            </a:r>
          </a:p>
          <a:p>
            <a:pPr>
              <a:spcBef>
                <a:spcPts val="600"/>
              </a:spcBef>
            </a:pPr>
            <a:r>
              <a:rPr sz="1100">
                <a:solidFill>
                  <a:srgbClr val="2B2B2B"/>
                </a:solidFill>
                <a:latin typeface="Calibri"/>
              </a:rPr>
              <a:t>海拔 1600m 单一庄园采摘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6675120" y="2478024"/>
            <a:ext cx="502919" cy="164592"/>
          </a:xfrm>
          <a:prstGeom prst="rightArrow">
            <a:avLst/>
          </a:prstGeom>
          <a:solidFill>
            <a:srgbClr val="A267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178040" y="1920240"/>
            <a:ext cx="2103120" cy="1280160"/>
          </a:xfrm>
          <a:prstGeom prst="roundRect">
            <a:avLst/>
          </a:prstGeom>
          <a:solidFill>
            <a:srgbClr val="A26769"/>
          </a:solidFill>
          <a:ln w="9525">
            <a:solidFill>
              <a:srgbClr val="6D2E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64592" bIns="164592"/>
          <a:lstStyle/>
          <a:p>
            <a:pPr algn="ctr"/>
            <a:r>
              <a:rPr sz="1400" b="1">
                <a:solidFill>
                  <a:srgbClr val="FFFFFF"/>
                </a:solidFill>
                <a:latin typeface="Georgia"/>
              </a:rPr>
              <a:t>02 · 处理</a:t>
            </a:r>
          </a:p>
          <a:p>
            <a:pPr>
              <a:spcBef>
                <a:spcPts val="600"/>
              </a:spcBef>
            </a:pPr>
            <a:r>
              <a:rPr sz="1100">
                <a:solidFill>
                  <a:srgbClr val="FFFFFF"/>
                </a:solidFill>
                <a:latin typeface="Calibri"/>
              </a:rPr>
              <a:t>水洗发酵 72 小时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9281160" y="2478024"/>
            <a:ext cx="502919" cy="164592"/>
          </a:xfrm>
          <a:prstGeom prst="rightArrow">
            <a:avLst/>
          </a:prstGeom>
          <a:solidFill>
            <a:srgbClr val="A267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9784080" y="1920240"/>
            <a:ext cx="2103120" cy="1280160"/>
          </a:xfrm>
          <a:prstGeom prst="roundRect">
            <a:avLst/>
          </a:prstGeom>
          <a:solidFill>
            <a:srgbClr val="6D2E46"/>
          </a:solidFill>
          <a:ln w="9525">
            <a:solidFill>
              <a:srgbClr val="6D2E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64592" bIns="164592"/>
          <a:lstStyle/>
          <a:p>
            <a:pPr algn="ctr"/>
            <a:r>
              <a:rPr sz="1400" b="1">
                <a:solidFill>
                  <a:srgbClr val="ECE2D0"/>
                </a:solidFill>
                <a:latin typeface="Georgia"/>
              </a:rPr>
              <a:t>03 · 烘焙</a:t>
            </a:r>
          </a:p>
          <a:p>
            <a:pPr>
              <a:spcBef>
                <a:spcPts val="600"/>
              </a:spcBef>
            </a:pPr>
            <a:r>
              <a:rPr sz="1100">
                <a:solidFill>
                  <a:srgbClr val="FFFFFF"/>
                </a:solidFill>
                <a:latin typeface="Calibri"/>
              </a:rPr>
              <a:t>中度烘焙 · 12 分钟</a:t>
            </a:r>
          </a:p>
        </p:txBody>
      </p:sp>
      <p:pic>
        <p:nvPicPr>
          <p:cNvPr id="15" name="Picture 14" descr="beans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3657600"/>
            <a:ext cx="3383280" cy="2651760"/>
          </a:xfrm>
          <a:prstGeom prst="round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8229600" y="3657600"/>
            <a:ext cx="365760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5400" b="1">
                <a:solidFill>
                  <a:srgbClr val="6D2E46"/>
                </a:solidFill>
                <a:latin typeface="Georgia"/>
              </a:rPr>
              <a:t>92</a:t>
            </a:r>
            <a:r>
              <a:rPr sz="1600">
                <a:solidFill>
                  <a:srgbClr val="A26769"/>
                </a:solidFill>
                <a:latin typeface="Calibri"/>
              </a:rPr>
              <a:t>  /100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7A6A6A"/>
                </a:solidFill>
                <a:latin typeface="Calibri"/>
              </a:rPr>
              <a:t>SCA 风味评分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5029200"/>
            <a:ext cx="365760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5400" b="1">
                <a:solidFill>
                  <a:srgbClr val="6D2E46"/>
                </a:solidFill>
                <a:latin typeface="Georgia"/>
              </a:rPr>
              <a:t>100%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7A6A6A"/>
                </a:solidFill>
                <a:latin typeface="Calibri"/>
              </a:rPr>
              <a:t>可追溯单一产区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